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88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16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2788920" cy="4800600"/>
          </a:xfrm>
          <a:prstGeom prst="roundRect">
            <a:avLst/>
          </a:prstGeom>
          <a:solidFill>
            <a:srgbClr val="F4F8FD"/>
          </a:solidFill>
          <a:ln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148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1F3758"/>
                </a:solidFill>
                <a:latin typeface="Aptos"/>
              </a:defRPr>
            </a:pPr>
            <a:r>
              <a:t>SECURE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14600"/>
            <a:ext cx="2148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1F3758"/>
                </a:solidFill>
                <a:latin typeface="Aptos"/>
              </a:defRPr>
            </a:pPr>
            <a:r>
              <a:t>EMPLOYEE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2148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1F3758"/>
                </a:solidFill>
                <a:latin typeface="Aptos"/>
              </a:defRPr>
            </a:pPr>
            <a:r>
              <a:t>HR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34840"/>
            <a:ext cx="2148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1F3758"/>
                </a:solidFill>
                <a:latin typeface="Aptos"/>
              </a:defRPr>
            </a:pPr>
            <a:r>
              <a:t>AUDIT &amp;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914400"/>
            <a:ext cx="78181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6583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758"/>
                </a:solidFill>
                <a:latin typeface="Aptos Display"/>
              </a:defRPr>
            </a:pPr>
            <a:r>
              <a:t>Employee Management</a:t>
            </a:r>
            <a:br/>
            <a:r>
              <a:t>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6974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167AE"/>
                </a:solidFill>
                <a:latin typeface="Aptos"/>
              </a:defRPr>
            </a:pPr>
            <a:r>
              <a:t>Project Demonstration &amp;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703320"/>
            <a:ext cx="1417320" cy="566928"/>
          </a:xfrm>
          <a:prstGeom prst="roundRect">
            <a:avLst/>
          </a:prstGeom>
          <a:solidFill>
            <a:srgbClr val="1F3758"/>
          </a:solidFill>
          <a:ln w="1270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Angular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703320"/>
            <a:ext cx="1417320" cy="566928"/>
          </a:xfrm>
          <a:prstGeom prst="roundRect">
            <a:avLst/>
          </a:prstGeom>
          <a:solidFill>
            <a:srgbClr val="1F3758"/>
          </a:solidFill>
          <a:ln w="1270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3703320"/>
            <a:ext cx="1828800" cy="566928"/>
          </a:xfrm>
          <a:prstGeom prst="roundRect">
            <a:avLst/>
          </a:prstGeom>
          <a:solidFill>
            <a:srgbClr val="1F3758"/>
          </a:solidFill>
          <a:ln w="1270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Spring Boot 3.5.6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3703320"/>
            <a:ext cx="1417320" cy="566928"/>
          </a:xfrm>
          <a:prstGeom prst="roundRect">
            <a:avLst/>
          </a:prstGeom>
          <a:solidFill>
            <a:srgbClr val="1F3758"/>
          </a:solidFill>
          <a:ln w="1270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MySQL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4892040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7"/>
                </a:solidFill>
                <a:latin typeface="Aptos"/>
              </a:defRPr>
            </a:pPr>
            <a:r>
              <a:t>Secure employee administration  •  Role-based access  •  Auditing  • 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7"/>
                </a:solidFill>
                <a:latin typeface="Aptos"/>
              </a:defRPr>
            </a:pPr>
            <a:r>
              <a:t>Employee Management System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1">
                <a:solidFill>
                  <a:srgbClr val="2D69B1"/>
                </a:solidFill>
                <a:latin typeface="Aptos"/>
              </a:defRPr>
            </a:pPr>
            <a:r>
              <a:t>02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21792"/>
            <a:ext cx="5943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700" b="1">
                <a:solidFill>
                  <a:srgbClr val="1C2D45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658368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50" b="0">
                <a:solidFill>
                  <a:srgbClr val="647487"/>
                </a:solidFill>
                <a:latin typeface="Aptos"/>
              </a:defRPr>
            </a:pPr>
            <a:r>
              <a:t>Core technologies supporting the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4663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50292" cy="1078992"/>
          </a:xfrm>
          <a:prstGeom prst="rect">
            <a:avLst/>
          </a:prstGeom>
          <a:solidFill>
            <a:srgbClr val="2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719072"/>
            <a:ext cx="4251959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1C2D45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94560"/>
            <a:ext cx="425195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  <a:latin typeface="Aptos"/>
              </a:defRPr>
            </a:pPr>
            <a:r>
              <a:t>Angular 21  •  TypeScript  •  HTML5  •  CSS3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536192"/>
            <a:ext cx="4663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23560" y="1536192"/>
            <a:ext cx="50292" cy="1078992"/>
          </a:xfrm>
          <a:prstGeom prst="rect">
            <a:avLst/>
          </a:prstGeom>
          <a:solidFill>
            <a:srgbClr val="2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9592" y="1719072"/>
            <a:ext cx="4251959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1C2D45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2194560"/>
            <a:ext cx="425195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  <a:latin typeface="Aptos"/>
              </a:defRPr>
            </a:pPr>
            <a:r>
              <a:t>Java 17  •  Spring Boot 3.5.6  •  Spring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16352"/>
            <a:ext cx="4663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816352"/>
            <a:ext cx="50292" cy="1078992"/>
          </a:xfrm>
          <a:prstGeom prst="rect">
            <a:avLst/>
          </a:prstGeom>
          <a:solidFill>
            <a:srgbClr val="2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2999232"/>
            <a:ext cx="4251959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1C2D45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474720"/>
            <a:ext cx="425195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  <a:latin typeface="Aptos"/>
              </a:defRPr>
            </a:pPr>
            <a:r>
              <a:t>MySQL 8  •  Spring Data JPA  •  Hibernate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2816352"/>
            <a:ext cx="4663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23560" y="2816352"/>
            <a:ext cx="50292" cy="1078992"/>
          </a:xfrm>
          <a:prstGeom prst="rect">
            <a:avLst/>
          </a:prstGeom>
          <a:solidFill>
            <a:srgbClr val="2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2999232"/>
            <a:ext cx="4251959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1C2D45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3474720"/>
            <a:ext cx="425195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  <a:latin typeface="Aptos"/>
              </a:defRPr>
            </a:pPr>
            <a:r>
              <a:t>JWT  •  OTP  •  BCrypt  •  Role-Based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96512"/>
            <a:ext cx="4663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096512"/>
            <a:ext cx="50292" cy="1078992"/>
          </a:xfrm>
          <a:prstGeom prst="rect">
            <a:avLst/>
          </a:prstGeom>
          <a:solidFill>
            <a:srgbClr val="2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279392"/>
            <a:ext cx="4251959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1C2D45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754880"/>
            <a:ext cx="425195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  <a:latin typeface="Aptos"/>
              </a:defRPr>
            </a:pPr>
            <a:r>
              <a:t>REST APIs  •  Multipart file upload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096512"/>
            <a:ext cx="4663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23560" y="4096512"/>
            <a:ext cx="50292" cy="1078992"/>
          </a:xfrm>
          <a:prstGeom prst="rect">
            <a:avLst/>
          </a:prstGeom>
          <a:solidFill>
            <a:srgbClr val="2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79592" y="4279392"/>
            <a:ext cx="4251959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1C2D45"/>
                </a:solidFill>
                <a:latin typeface="Aptos"/>
              </a:defRPr>
            </a:pPr>
            <a:r>
              <a:t>Data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9592" y="4754880"/>
            <a:ext cx="425195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  <a:latin typeface="Aptos"/>
              </a:defRPr>
            </a:pPr>
            <a:r>
              <a:t>Import / Export  •  CSV / XLSX / DOCX / 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440680"/>
            <a:ext cx="36576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1">
                <a:solidFill>
                  <a:srgbClr val="2D69B1"/>
                </a:solidFill>
                <a:latin typeface="Aptos"/>
              </a:defRPr>
            </a:pPr>
            <a:r>
              <a:t>REQUEST / RESPONSE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742432"/>
            <a:ext cx="1600200" cy="4114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5843016"/>
            <a:ext cx="16002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819" b="1">
                <a:solidFill>
                  <a:srgbClr val="1C2D45"/>
                </a:solidFill>
                <a:latin typeface="Aptos"/>
              </a:defRPr>
            </a:pPr>
            <a:r>
              <a:t>Angular 21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5742432"/>
            <a:ext cx="1417320" cy="4114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60320" y="5843016"/>
            <a:ext cx="14173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819" b="1">
                <a:solidFill>
                  <a:srgbClr val="1C2D45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24528" y="5742432"/>
            <a:ext cx="1874519" cy="4114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24528" y="5843016"/>
            <a:ext cx="1874519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819" b="1">
                <a:solidFill>
                  <a:srgbClr val="1C2D45"/>
                </a:solidFill>
                <a:latin typeface="Aptos"/>
              </a:defRPr>
            </a:pPr>
            <a:r>
              <a:t>Spring Boot 3.5.6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5936" y="5742432"/>
            <a:ext cx="1691640" cy="4114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45936" y="5843016"/>
            <a:ext cx="169164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819" b="1">
                <a:solidFill>
                  <a:srgbClr val="1C2D45"/>
                </a:solidFill>
                <a:latin typeface="Aptos"/>
              </a:defRPr>
            </a:pPr>
            <a:r>
              <a:t>JPA / Hibernate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39327" y="5742432"/>
            <a:ext cx="1280160" cy="4114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9327" y="5843016"/>
            <a:ext cx="12801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819" b="1">
                <a:solidFill>
                  <a:srgbClr val="1C2D45"/>
                </a:solidFill>
                <a:latin typeface="Aptos"/>
              </a:defRPr>
            </a:pPr>
            <a:r>
              <a:t>MySQL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86584" y="5824728"/>
            <a:ext cx="164592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000" b="1">
                <a:solidFill>
                  <a:srgbClr val="2D69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59936" y="5824728"/>
            <a:ext cx="164592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000" b="1">
                <a:solidFill>
                  <a:srgbClr val="2D69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344" y="5824728"/>
            <a:ext cx="164592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000" b="1">
                <a:solidFill>
                  <a:srgbClr val="2D69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5824728"/>
            <a:ext cx="164592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000" b="1">
                <a:solidFill>
                  <a:srgbClr val="2D69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105156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750" b="0">
                <a:solidFill>
                  <a:srgbClr val="647487"/>
                </a:solidFill>
                <a:latin typeface="Aptos"/>
              </a:defRPr>
            </a:pPr>
            <a:r>
              <a:t>Employee Management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510528"/>
            <a:ext cx="50292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750" b="0">
                <a:solidFill>
                  <a:srgbClr val="64748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64592"/>
            <a:ext cx="11734799" cy="6528816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2500" b="1">
                <a:solidFill>
                  <a:srgbClr val="4C6487"/>
                </a:solidFill>
                <a:latin typeface="Aptos"/>
              </a:defRPr>
            </a:pPr>
            <a:r>
              <a:t>End-to-End 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14400"/>
            <a:ext cx="10927080" cy="960120"/>
          </a:xfrm>
          <a:prstGeom prst="rect">
            <a:avLst/>
          </a:prstGeom>
          <a:solidFill>
            <a:srgbClr val="F7F9FC"/>
          </a:solidFill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960120"/>
            <a:ext cx="150876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defRPr sz="850" b="1">
                <a:solidFill>
                  <a:srgbClr val="4C6487"/>
                </a:solidFill>
                <a:latin typeface="Aptos"/>
              </a:defRPr>
            </a:pPr>
            <a:r>
              <a:t>User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1207008"/>
            <a:ext cx="1097280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92807" y="1225296"/>
            <a:ext cx="1005839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19" b="1">
                <a:solidFill>
                  <a:srgbClr val="384658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07008"/>
            <a:ext cx="1417320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225296"/>
            <a:ext cx="1325880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19" b="1">
                <a:solidFill>
                  <a:srgbClr val="384658"/>
                </a:solidFill>
                <a:latin typeface="Aptos"/>
              </a:defRPr>
            </a:pPr>
            <a:r>
              <a:t>LOGIN</a:t>
            </a:r>
            <a:br/>
            <a:r>
              <a:t>(Username / Password)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7488" y="1207008"/>
            <a:ext cx="1417320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93207" y="1225296"/>
            <a:ext cx="1325880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19" b="1">
                <a:solidFill>
                  <a:srgbClr val="384658"/>
                </a:solidFill>
                <a:latin typeface="Aptos"/>
              </a:defRPr>
            </a:pPr>
            <a:r>
              <a:t>OTP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07008"/>
            <a:ext cx="1627632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225296"/>
            <a:ext cx="1536192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19" b="1">
                <a:solidFill>
                  <a:srgbClr val="384658"/>
                </a:solidFill>
                <a:latin typeface="Aptos"/>
              </a:defRPr>
            </a:pPr>
            <a:r>
              <a:t>AUTHENTICATED SESSION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44368" y="1426464"/>
            <a:ext cx="484632" cy="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46320" y="1426464"/>
            <a:ext cx="201168" cy="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64807" y="1426464"/>
            <a:ext cx="210313" cy="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8368" y="1993392"/>
            <a:ext cx="10927080" cy="2880360"/>
          </a:xfrm>
          <a:prstGeom prst="rect">
            <a:avLst/>
          </a:prstGeom>
          <a:solidFill>
            <a:srgbClr val="F7F9FC"/>
          </a:solidFill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2039112"/>
            <a:ext cx="150876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defRPr sz="850" b="1">
                <a:solidFill>
                  <a:srgbClr val="4C6487"/>
                </a:solidFill>
                <a:latin typeface="Aptos"/>
              </a:defRPr>
            </a:pPr>
            <a:r>
              <a:t>Application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286000"/>
            <a:ext cx="1371600" cy="438912"/>
          </a:xfrm>
          <a:prstGeom prst="roundRect">
            <a:avLst/>
          </a:prstGeom>
          <a:solidFill>
            <a:srgbClr val="EEF5FD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304288"/>
            <a:ext cx="1280160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900" b="1">
                <a:solidFill>
                  <a:srgbClr val="384658"/>
                </a:solidFill>
                <a:latin typeface="Aptos"/>
              </a:defRPr>
            </a:pPr>
            <a:r>
              <a:t>DASHBOARD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2724912"/>
            <a:ext cx="0" cy="9144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816352"/>
            <a:ext cx="7818120" cy="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0" y="2816352"/>
            <a:ext cx="0" cy="155448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4840" y="2816352"/>
            <a:ext cx="0" cy="155448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40880" y="2816352"/>
            <a:ext cx="0" cy="155448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46920" y="2816352"/>
            <a:ext cx="0" cy="155448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8680" y="2971800"/>
            <a:ext cx="1920240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2990088"/>
            <a:ext cx="182880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00" b="1">
                <a:solidFill>
                  <a:srgbClr val="384658"/>
                </a:solidFill>
                <a:latin typeface="Aptos"/>
              </a:defRPr>
            </a:pPr>
            <a:r>
              <a:t>Employee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2971800"/>
            <a:ext cx="1920240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39" y="2990088"/>
            <a:ext cx="182880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00" b="1">
                <a:solidFill>
                  <a:srgbClr val="384658"/>
                </a:solidFill>
                <a:latin typeface="Aptos"/>
              </a:defRPr>
            </a:pPr>
            <a:r>
              <a:t>Organization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2971800"/>
            <a:ext cx="1920240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2990088"/>
            <a:ext cx="182880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00" b="1">
                <a:solidFill>
                  <a:srgbClr val="384658"/>
                </a:solidFill>
                <a:latin typeface="Aptos"/>
              </a:defRPr>
            </a:pPr>
            <a:r>
              <a:t>Admin 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2971800"/>
            <a:ext cx="1920240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2520" y="2990088"/>
            <a:ext cx="182880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00" b="1">
                <a:solidFill>
                  <a:srgbClr val="384658"/>
                </a:solidFill>
                <a:latin typeface="Aptos"/>
              </a:defRPr>
            </a:pPr>
            <a:r>
              <a:t>Workforce / Activity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3593592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3611880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00" b="0">
                <a:solidFill>
                  <a:srgbClr val="384658"/>
                </a:solidFill>
                <a:latin typeface="Aptos"/>
              </a:defRPr>
            </a:pPr>
            <a:r>
              <a:t>Employee List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4078224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88720" y="4096511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800" b="0">
                <a:solidFill>
                  <a:srgbClr val="384658"/>
                </a:solidFill>
                <a:latin typeface="Aptos"/>
              </a:defRPr>
            </a:pPr>
            <a:r>
              <a:t>Employee Profile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28800" y="3392424"/>
            <a:ext cx="0" cy="201168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828800" y="3986784"/>
            <a:ext cx="0" cy="9144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749039" y="3593592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94759" y="3611880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90" b="0">
                <a:solidFill>
                  <a:srgbClr val="384658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49039" y="4078224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59" y="4096511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90" b="0">
                <a:solidFill>
                  <a:srgbClr val="384658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4562856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94759" y="4581144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90" b="0">
                <a:solidFill>
                  <a:srgbClr val="384658"/>
                </a:solidFill>
                <a:latin typeface="Aptos"/>
              </a:defRPr>
            </a:pPr>
            <a:r>
              <a:t>User Accounts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434840" y="3392424"/>
            <a:ext cx="0" cy="201168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434840" y="3986784"/>
            <a:ext cx="0" cy="9144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34840" y="4471416"/>
            <a:ext cx="0" cy="9144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355080" y="3593592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3611880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70" b="0">
                <a:solidFill>
                  <a:srgbClr val="384658"/>
                </a:solidFill>
                <a:latin typeface="Aptos"/>
              </a:defRPr>
            </a:pPr>
            <a:r>
              <a:t>Leave Requests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4078224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0" y="4096511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70" b="0">
                <a:solidFill>
                  <a:srgbClr val="384658"/>
                </a:solidFill>
                <a:latin typeface="Aptos"/>
              </a:defRPr>
            </a:pPr>
            <a:r>
              <a:t>Broadcast Announcement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4562856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0" y="4581144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70" b="0">
                <a:solidFill>
                  <a:srgbClr val="384658"/>
                </a:solidFill>
                <a:latin typeface="Aptos"/>
              </a:defRPr>
            </a:pPr>
            <a:r>
              <a:t>Notifications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40880" y="3392424"/>
            <a:ext cx="0" cy="201168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040880" y="3986784"/>
            <a:ext cx="0" cy="9144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040880" y="4471416"/>
            <a:ext cx="0" cy="9144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8961120" y="3593592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06840" y="3611880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90" b="0">
                <a:solidFill>
                  <a:srgbClr val="384658"/>
                </a:solidFill>
                <a:latin typeface="Aptos"/>
              </a:defRPr>
            </a:pPr>
            <a:r>
              <a:t>HR Analytics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61120" y="4078224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006840" y="4096511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90" b="0">
                <a:solidFill>
                  <a:srgbClr val="384658"/>
                </a:solidFill>
                <a:latin typeface="Aptos"/>
              </a:defRPr>
            </a:pPr>
            <a:r>
              <a:t>Sessions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61120" y="4562856"/>
            <a:ext cx="137160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06840" y="4581144"/>
            <a:ext cx="1280160" cy="3566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90" b="0">
                <a:solidFill>
                  <a:srgbClr val="384658"/>
                </a:solidFill>
                <a:latin typeface="Aptos"/>
              </a:defRPr>
            </a:pPr>
            <a:r>
              <a:t>Activity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646920" y="3392424"/>
            <a:ext cx="0" cy="201168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46920" y="3986784"/>
            <a:ext cx="0" cy="9144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646920" y="4471416"/>
            <a:ext cx="0" cy="91440"/>
          </a:xfrm>
          <a:prstGeom prst="line">
            <a:avLst/>
          </a:prstGeom>
          <a:ln w="13970">
            <a:solidFill>
              <a:srgbClr val="437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58368" y="4965192"/>
            <a:ext cx="10927080" cy="1115568"/>
          </a:xfrm>
          <a:prstGeom prst="rect">
            <a:avLst/>
          </a:prstGeom>
          <a:solidFill>
            <a:srgbClr val="F7F9FC"/>
          </a:solidFill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8096" y="5010912"/>
            <a:ext cx="150876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defRPr sz="850" b="1">
                <a:solidFill>
                  <a:srgbClr val="4C6487"/>
                </a:solidFill>
                <a:latin typeface="Aptos"/>
              </a:defRPr>
            </a:pPr>
            <a:r>
              <a:t>Key Admin Operations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8680" y="5321808"/>
            <a:ext cx="1554480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14400" y="5340096"/>
            <a:ext cx="1463039" cy="51206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00" b="1">
                <a:solidFill>
                  <a:srgbClr val="384658"/>
                </a:solidFill>
                <a:latin typeface="Aptos"/>
              </a:defRPr>
            </a:pPr>
            <a:r>
              <a:t>Leave Approval</a:t>
            </a:r>
            <a:br/>
            <a:r>
              <a:t>Request → Approve / Reject → Status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633472" y="5321808"/>
            <a:ext cx="1554480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679191" y="5340096"/>
            <a:ext cx="1463039" cy="51206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00" b="1">
                <a:solidFill>
                  <a:srgbClr val="384658"/>
                </a:solidFill>
                <a:latin typeface="Aptos"/>
              </a:defRPr>
            </a:pPr>
            <a:r>
              <a:t>Broadcast</a:t>
            </a:r>
            <a:br/>
            <a:r>
              <a:t>Announcement → Notifications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98264" y="5321808"/>
            <a:ext cx="1554480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43983" y="5340096"/>
            <a:ext cx="1463039" cy="51206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00" b="1">
                <a:solidFill>
                  <a:srgbClr val="384658"/>
                </a:solidFill>
                <a:latin typeface="Aptos"/>
              </a:defRPr>
            </a:pPr>
            <a:r>
              <a:t>Support Chatbot</a:t>
            </a:r>
            <a:br/>
            <a:r>
              <a:t>Employee ↔ Staff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63056" y="5321808"/>
            <a:ext cx="1554480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08776" y="5340096"/>
            <a:ext cx="1463039" cy="51206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00" b="1">
                <a:solidFill>
                  <a:srgbClr val="384658"/>
                </a:solidFill>
                <a:latin typeface="Aptos"/>
              </a:defRPr>
            </a:pPr>
            <a:r>
              <a:t>Payslip</a:t>
            </a:r>
            <a:br/>
            <a:r>
              <a:t>Generate → View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27848" y="5321808"/>
            <a:ext cx="1554480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973568" y="5340096"/>
            <a:ext cx="1463039" cy="51206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00" b="1">
                <a:solidFill>
                  <a:srgbClr val="384658"/>
                </a:solidFill>
                <a:latin typeface="Aptos"/>
              </a:defRPr>
            </a:pPr>
            <a:r>
              <a:t>Documents</a:t>
            </a:r>
            <a:br/>
            <a:r>
              <a:t>Upload → View / Download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92640" y="5321808"/>
            <a:ext cx="1554480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738360" y="5340096"/>
            <a:ext cx="1463039" cy="51206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defRPr sz="700" b="1">
                <a:solidFill>
                  <a:srgbClr val="384658"/>
                </a:solidFill>
                <a:latin typeface="Aptos"/>
              </a:defRPr>
            </a:pPr>
            <a:r>
              <a:t>Performance Review</a:t>
            </a:r>
            <a:br/>
            <a:r>
              <a:t>Review → 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64592"/>
            <a:ext cx="11734799" cy="6528816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47548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>
              <a:defRPr sz="2700" b="1">
                <a:solidFill>
                  <a:srgbClr val="4C6487"/>
                </a:solidFill>
                <a:latin typeface="Aptos"/>
              </a:defRPr>
            </a:pPr>
            <a:r>
              <a:t>Employee &amp; Admin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42416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>
              <a:defRPr sz="1200" b="0">
                <a:solidFill>
                  <a:srgbClr val="69788C"/>
                </a:solidFill>
                <a:latin typeface="Aptos"/>
              </a:defRPr>
            </a:pPr>
            <a:r>
              <a:t>Core modules demonstrated in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36192"/>
            <a:ext cx="2999232" cy="1508760"/>
          </a:xfrm>
          <a:prstGeom prst="roundRect">
            <a:avLst/>
          </a:prstGeom>
          <a:solidFill>
            <a:srgbClr val="F2F7FD"/>
          </a:solidFill>
          <a:ln w="15240">
            <a:solidFill>
              <a:srgbClr val="C4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36192"/>
            <a:ext cx="73152" cy="1508760"/>
          </a:xfrm>
          <a:prstGeom prst="rect">
            <a:avLst/>
          </a:prstGeom>
          <a:solidFill>
            <a:srgbClr val="3E7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2670048" cy="43891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600" b="1">
                <a:solidFill>
                  <a:srgbClr val="4C6487"/>
                </a:solidFill>
                <a:latin typeface="Aptos"/>
              </a:defRPr>
            </a:pPr>
            <a:r>
              <a:t>LEAVE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86584"/>
            <a:ext cx="2542032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000" b="0">
                <a:solidFill>
                  <a:srgbClr val="53677D"/>
                </a:solidFill>
                <a:latin typeface="Aptos"/>
              </a:defRPr>
            </a:pPr>
            <a:r>
              <a:t>Employee request • Admin approve / reject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536192"/>
            <a:ext cx="2999232" cy="1508760"/>
          </a:xfrm>
          <a:prstGeom prst="roundRect">
            <a:avLst/>
          </a:prstGeom>
          <a:solidFill>
            <a:srgbClr val="F2F7FD"/>
          </a:solidFill>
          <a:ln w="15240">
            <a:solidFill>
              <a:srgbClr val="C4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41648" y="1536192"/>
            <a:ext cx="73152" cy="1508760"/>
          </a:xfrm>
          <a:prstGeom prst="rect">
            <a:avLst/>
          </a:prstGeom>
          <a:solidFill>
            <a:srgbClr val="3E7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847088"/>
            <a:ext cx="2670048" cy="43891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600" b="1">
                <a:solidFill>
                  <a:srgbClr val="4C6487"/>
                </a:solidFill>
                <a:latin typeface="Aptos"/>
              </a:defRPr>
            </a:pPr>
            <a:r>
              <a:t>ANNOUNCEMENT BROADCAST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386584"/>
            <a:ext cx="2542032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000" b="0">
                <a:solidFill>
                  <a:srgbClr val="53677D"/>
                </a:solidFill>
                <a:latin typeface="Aptos"/>
              </a:defRPr>
            </a:pPr>
            <a:r>
              <a:t>Admin broadcast • Employee notifications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1536192"/>
            <a:ext cx="2999232" cy="1508760"/>
          </a:xfrm>
          <a:prstGeom prst="roundRect">
            <a:avLst/>
          </a:prstGeom>
          <a:solidFill>
            <a:srgbClr val="F2F7FD"/>
          </a:solidFill>
          <a:ln w="15240">
            <a:solidFill>
              <a:srgbClr val="C4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97496" y="1536192"/>
            <a:ext cx="73152" cy="1508760"/>
          </a:xfrm>
          <a:prstGeom prst="rect">
            <a:avLst/>
          </a:prstGeom>
          <a:solidFill>
            <a:srgbClr val="3E7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1847088"/>
            <a:ext cx="2670048" cy="43891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600" b="1">
                <a:solidFill>
                  <a:srgbClr val="4C6487"/>
                </a:solidFill>
                <a:latin typeface="Aptos"/>
              </a:defRPr>
            </a:pPr>
            <a:r>
              <a:t>SUPPORT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386584"/>
            <a:ext cx="2542032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000" b="0">
                <a:solidFill>
                  <a:srgbClr val="53677D"/>
                </a:solidFill>
                <a:latin typeface="Aptos"/>
              </a:defRPr>
            </a:pPr>
            <a:r>
              <a:t>Employee ↔ Staff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9584"/>
            <a:ext cx="2999232" cy="1508760"/>
          </a:xfrm>
          <a:prstGeom prst="roundRect">
            <a:avLst/>
          </a:prstGeom>
          <a:solidFill>
            <a:srgbClr val="F2F7FD"/>
          </a:solidFill>
          <a:ln w="15240">
            <a:solidFill>
              <a:srgbClr val="C4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29584"/>
            <a:ext cx="73152" cy="1508760"/>
          </a:xfrm>
          <a:prstGeom prst="rect">
            <a:avLst/>
          </a:prstGeom>
          <a:solidFill>
            <a:srgbClr val="3E7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840480"/>
            <a:ext cx="2670048" cy="43891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600" b="1">
                <a:solidFill>
                  <a:srgbClr val="4C6487"/>
                </a:solidFill>
                <a:latin typeface="Aptos"/>
              </a:defRPr>
            </a:pPr>
            <a:r>
              <a:t>PAYSLIP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79976"/>
            <a:ext cx="2542032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000" b="0">
                <a:solidFill>
                  <a:srgbClr val="53677D"/>
                </a:solidFill>
                <a:latin typeface="Aptos"/>
              </a:defRPr>
            </a:pPr>
            <a:r>
              <a:t>Generate • 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3529584"/>
            <a:ext cx="2999232" cy="1508760"/>
          </a:xfrm>
          <a:prstGeom prst="roundRect">
            <a:avLst/>
          </a:prstGeom>
          <a:solidFill>
            <a:srgbClr val="F2F7FD"/>
          </a:solidFill>
          <a:ln w="15240">
            <a:solidFill>
              <a:srgbClr val="C4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41648" y="3529584"/>
            <a:ext cx="73152" cy="1508760"/>
          </a:xfrm>
          <a:prstGeom prst="rect">
            <a:avLst/>
          </a:prstGeom>
          <a:solidFill>
            <a:srgbClr val="3E7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3840480"/>
            <a:ext cx="2670048" cy="43891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600" b="1">
                <a:solidFill>
                  <a:srgbClr val="4C6487"/>
                </a:solidFill>
                <a:latin typeface="Aptos"/>
              </a:defRPr>
            </a:pPr>
            <a:r>
              <a:t>DOCUMENT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4379976"/>
            <a:ext cx="2542032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000" b="0">
                <a:solidFill>
                  <a:srgbClr val="53677D"/>
                </a:solidFill>
                <a:latin typeface="Aptos"/>
              </a:defRPr>
            </a:pPr>
            <a:r>
              <a:t>Upload • View • Download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496" y="3529584"/>
            <a:ext cx="2999232" cy="1508760"/>
          </a:xfrm>
          <a:prstGeom prst="roundRect">
            <a:avLst/>
          </a:prstGeom>
          <a:solidFill>
            <a:srgbClr val="F2F7FD"/>
          </a:solidFill>
          <a:ln w="15240">
            <a:solidFill>
              <a:srgbClr val="C4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97496" y="3529584"/>
            <a:ext cx="73152" cy="1508760"/>
          </a:xfrm>
          <a:prstGeom prst="rect">
            <a:avLst/>
          </a:prstGeom>
          <a:solidFill>
            <a:srgbClr val="3E7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3840480"/>
            <a:ext cx="2670048" cy="43891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600" b="1">
                <a:solidFill>
                  <a:srgbClr val="4C6487"/>
                </a:solidFill>
                <a:latin typeface="Aptos"/>
              </a:defRPr>
            </a:pPr>
            <a:r>
              <a:t>PERFORMANCE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4379976"/>
            <a:ext cx="2542032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000" b="0">
                <a:solidFill>
                  <a:srgbClr val="53677D"/>
                </a:solidFill>
                <a:latin typeface="Aptos"/>
              </a:defRPr>
            </a:pPr>
            <a:r>
              <a:t>Review • Rating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68112"/>
            <a:ext cx="9710928" cy="566928"/>
          </a:xfrm>
          <a:prstGeom prst="roundRect">
            <a:avLst/>
          </a:prstGeom>
          <a:solidFill>
            <a:srgbClr val="E8F2FC"/>
          </a:solidFill>
          <a:ln w="12700">
            <a:solidFill>
              <a:srgbClr val="C4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577840"/>
            <a:ext cx="9345168" cy="27432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>
              <a:defRPr sz="1050" b="1">
                <a:solidFill>
                  <a:srgbClr val="4C6487"/>
                </a:solidFill>
                <a:latin typeface="Aptos"/>
              </a:defRPr>
            </a:pPr>
            <a:r>
              <a:t>DEMO FOCUS  •  Employee services  •  Admin controls  •  Communication  •  HR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16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8"/>
                </a:solidFill>
                <a:latin typeface="Aptos Display"/>
              </a:defRPr>
            </a:pPr>
            <a:r>
              <a:t>Roles, Authorities &amp;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7"/>
                </a:solidFill>
                <a:latin typeface="Aptos"/>
              </a:defRPr>
            </a:pPr>
            <a:r>
              <a:t>Controlled access from user identity to permitted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AUTHORITIES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2743200" cy="566928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ALLOWED FEATURES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1892807"/>
            <a:ext cx="0" cy="256032"/>
          </a:xfrm>
          <a:prstGeom prst="line">
            <a:avLst/>
          </a:prstGeom>
          <a:ln w="15240">
            <a:solidFill>
              <a:srgbClr val="31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6000" y="2715768"/>
            <a:ext cx="0" cy="256032"/>
          </a:xfrm>
          <a:prstGeom prst="line">
            <a:avLst/>
          </a:prstGeom>
          <a:ln w="15240">
            <a:solidFill>
              <a:srgbClr val="31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86000" y="3538728"/>
            <a:ext cx="0" cy="256032"/>
          </a:xfrm>
          <a:prstGeom prst="line">
            <a:avLst/>
          </a:prstGeom>
          <a:ln w="15240">
            <a:solidFill>
              <a:srgbClr val="31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1325880"/>
            <a:ext cx="2743200" cy="566928"/>
          </a:xfrm>
          <a:prstGeom prst="roundRect">
            <a:avLst/>
          </a:prstGeom>
          <a:solidFill>
            <a:srgbClr val="3167AE"/>
          </a:solidFill>
          <a:ln w="12700">
            <a:solidFill>
              <a:srgbClr val="31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FFFFFF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148840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EMPLOYEE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971800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USER ACCOUNT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1892807"/>
            <a:ext cx="0" cy="256033"/>
          </a:xfrm>
          <a:prstGeom prst="line">
            <a:avLst/>
          </a:prstGeom>
          <a:ln w="15240">
            <a:solidFill>
              <a:srgbClr val="31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715768"/>
            <a:ext cx="0" cy="256032"/>
          </a:xfrm>
          <a:prstGeom prst="line">
            <a:avLst/>
          </a:prstGeom>
          <a:ln w="15240">
            <a:solidFill>
              <a:srgbClr val="31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01000" y="1325880"/>
            <a:ext cx="3246120" cy="2331720"/>
          </a:xfrm>
          <a:prstGeom prst="roundRect">
            <a:avLst/>
          </a:prstGeom>
          <a:solidFill>
            <a:srgbClr val="F4F8FD"/>
          </a:solidFill>
          <a:ln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400" b="1">
                <a:solidFill>
                  <a:srgbClr val="1F3758"/>
                </a:solidFill>
                <a:latin typeface="Aptos"/>
              </a:defRPr>
            </a:pPr>
            <a:r>
              <a:t>Example Authorities</a:t>
            </a:r>
          </a:p>
          <a:p>
            <a:pPr>
              <a:spcBef>
                <a:spcPts val="500"/>
              </a:spcBef>
              <a:defRPr sz="1000">
                <a:solidFill>
                  <a:srgbClr val="273648"/>
                </a:solidFill>
                <a:latin typeface="Aptos"/>
              </a:defRPr>
            </a:pPr>
            <a:r>
              <a:t>MANAGE_EMPLOYEES</a:t>
            </a:r>
          </a:p>
          <a:p>
            <a:pPr>
              <a:spcBef>
                <a:spcPts val="500"/>
              </a:spcBef>
              <a:defRPr sz="1000">
                <a:solidFill>
                  <a:srgbClr val="273648"/>
                </a:solidFill>
                <a:latin typeface="Aptos"/>
              </a:defRPr>
            </a:pPr>
            <a:r>
              <a:t>MANAGE_DEPARTMENTS</a:t>
            </a:r>
          </a:p>
          <a:p>
            <a:pPr>
              <a:spcBef>
                <a:spcPts val="500"/>
              </a:spcBef>
              <a:defRPr sz="1000">
                <a:solidFill>
                  <a:srgbClr val="273648"/>
                </a:solidFill>
                <a:latin typeface="Aptos"/>
              </a:defRPr>
            </a:pPr>
            <a:r>
              <a:t>MANAGE_ROLES</a:t>
            </a:r>
          </a:p>
          <a:p>
            <a:pPr>
              <a:spcBef>
                <a:spcPts val="500"/>
              </a:spcBef>
              <a:defRPr sz="1000">
                <a:solidFill>
                  <a:srgbClr val="273648"/>
                </a:solidFill>
                <a:latin typeface="Aptos"/>
              </a:defRPr>
            </a:pPr>
            <a:r>
              <a:t>MANAGE_FILES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06908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100" b="1">
                <a:solidFill>
                  <a:srgbClr val="1F3758"/>
                </a:solidFill>
                <a:latin typeface="Aptos"/>
              </a:defRPr>
            </a:pPr>
            <a:r>
              <a:t>AUDIT TRACKING</a:t>
            </a:r>
            <a:br/>
            <a:r>
              <a:t>Created / Modified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5257800"/>
            <a:ext cx="4892040" cy="594360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19" b="1">
                <a:solidFill>
                  <a:srgbClr val="1F3758"/>
                </a:solidFill>
                <a:latin typeface="Aptos"/>
              </a:defRPr>
            </a:pPr>
            <a:r>
              <a:t>Frontend visibility  →  Backend authorization  →  Permission-controlled 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7"/>
                </a:solidFill>
                <a:latin typeface="Aptos"/>
              </a:defRPr>
            </a:pPr>
            <a:r>
              <a:t>Employee Management System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16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8"/>
                </a:solidFill>
                <a:latin typeface="Aptos Display"/>
              </a:defRPr>
            </a:pPr>
            <a:r>
              <a:t>Dashboard &amp; Workforce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7"/>
                </a:solidFill>
                <a:latin typeface="Aptos"/>
              </a:defRPr>
            </a:pPr>
            <a:r>
              <a:t>Central view for employees, departments and operational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51460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7"/>
                </a:solidFill>
                <a:latin typeface="Aptos"/>
              </a:defRPr>
            </a:pPr>
            <a:r>
              <a:t>EMPLOYEES</a:t>
            </a:r>
          </a:p>
          <a:p>
            <a:pPr>
              <a:defRPr sz="2100" b="1">
                <a:solidFill>
                  <a:srgbClr val="1F3758"/>
                </a:solidFill>
                <a:latin typeface="Aptos Display"/>
              </a:defRPr>
            </a:pPr>
            <a:r>
              <a:t>Total</a:t>
            </a:r>
          </a:p>
          <a:p>
            <a:pPr>
              <a:defRPr sz="880">
                <a:solidFill>
                  <a:srgbClr val="647487"/>
                </a:solidFill>
                <a:latin typeface="Aptos"/>
              </a:defRPr>
            </a:pPr>
            <a:r>
              <a:t>Dashboard 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2514600" cy="54864"/>
          </a:xfrm>
          <a:prstGeom prst="rect">
            <a:avLst/>
          </a:prstGeom>
          <a:solidFill>
            <a:srgbClr val="316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51460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7"/>
                </a:solidFill>
                <a:latin typeface="Aptos"/>
              </a:defRPr>
            </a:pPr>
            <a:r>
              <a:t>DEPARTMENTS</a:t>
            </a:r>
          </a:p>
          <a:p>
            <a:pPr>
              <a:defRPr sz="2100" b="1">
                <a:solidFill>
                  <a:srgbClr val="1F3758"/>
                </a:solidFill>
                <a:latin typeface="Aptos Display"/>
              </a:defRPr>
            </a:pPr>
            <a:r>
              <a:t>Total</a:t>
            </a:r>
          </a:p>
          <a:p>
            <a:pPr>
              <a:defRPr sz="880">
                <a:solidFill>
                  <a:srgbClr val="647487"/>
                </a:solidFill>
                <a:latin typeface="Aptos"/>
              </a:defRPr>
            </a:pPr>
            <a:r>
              <a:t>Dashboard 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25880"/>
            <a:ext cx="2514600" cy="54864"/>
          </a:xfrm>
          <a:prstGeom prst="rect">
            <a:avLst/>
          </a:prstGeom>
          <a:solidFill>
            <a:srgbClr val="316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251460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7"/>
                </a:solidFill>
                <a:latin typeface="Aptos"/>
              </a:defRPr>
            </a:pPr>
            <a:r>
              <a:t>GRADES</a:t>
            </a:r>
          </a:p>
          <a:p>
            <a:pPr>
              <a:defRPr sz="2100" b="1">
                <a:solidFill>
                  <a:srgbClr val="1F3758"/>
                </a:solidFill>
                <a:latin typeface="Aptos Display"/>
              </a:defRPr>
            </a:pPr>
            <a:r>
              <a:t>Distribution</a:t>
            </a:r>
          </a:p>
          <a:p>
            <a:pPr>
              <a:defRPr sz="880">
                <a:solidFill>
                  <a:srgbClr val="647487"/>
                </a:solidFill>
                <a:latin typeface="Aptos"/>
              </a:defRPr>
            </a:pPr>
            <a:r>
              <a:t>Dashboard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2514600" cy="54864"/>
          </a:xfrm>
          <a:prstGeom prst="rect">
            <a:avLst/>
          </a:prstGeom>
          <a:solidFill>
            <a:srgbClr val="316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15400" y="1325880"/>
            <a:ext cx="251460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7"/>
                </a:solidFill>
                <a:latin typeface="Aptos"/>
              </a:defRPr>
            </a:pPr>
            <a:r>
              <a:t>SESSIONS</a:t>
            </a:r>
          </a:p>
          <a:p>
            <a:pPr>
              <a:defRPr sz="2100" b="1">
                <a:solidFill>
                  <a:srgbClr val="1F3758"/>
                </a:solidFill>
                <a:latin typeface="Aptos Display"/>
              </a:defRPr>
            </a:pPr>
            <a:r>
              <a:t>Activity</a:t>
            </a:r>
          </a:p>
          <a:p>
            <a:pPr>
              <a:defRPr sz="880">
                <a:solidFill>
                  <a:srgbClr val="647487"/>
                </a:solidFill>
                <a:latin typeface="Aptos"/>
              </a:defRPr>
            </a:pPr>
            <a:r>
              <a:t>Dashboard 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325880"/>
            <a:ext cx="2514600" cy="54864"/>
          </a:xfrm>
          <a:prstGeom prst="rect">
            <a:avLst/>
          </a:prstGeom>
          <a:solidFill>
            <a:srgbClr val="316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4937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Employee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22191"/>
            <a:ext cx="4937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Department Distribution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81144"/>
            <a:ext cx="4937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220" b="1">
                <a:solidFill>
                  <a:srgbClr val="1F3758"/>
                </a:solidFill>
                <a:latin typeface="Aptos"/>
              </a:defRPr>
            </a:pPr>
            <a:r>
              <a:t>Performance &amp; Leave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63240"/>
            <a:ext cx="1508760" cy="594360"/>
          </a:xfrm>
          <a:prstGeom prst="roundRect">
            <a:avLst/>
          </a:prstGeom>
          <a:solidFill>
            <a:srgbClr val="3167AE"/>
          </a:solidFill>
          <a:ln w="12700">
            <a:solidFill>
              <a:srgbClr val="31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06324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150" b="1">
                <a:solidFill>
                  <a:srgbClr val="1F3758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3063240"/>
            <a:ext cx="1143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150" b="1">
                <a:solidFill>
                  <a:srgbClr val="1F3758"/>
                </a:solidFill>
                <a:latin typeface="Aptos"/>
              </a:defRPr>
            </a:pPr>
            <a:r>
              <a:t>LOG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3364992"/>
            <a:ext cx="457200" cy="0"/>
          </a:xfrm>
          <a:prstGeom prst="line">
            <a:avLst/>
          </a:prstGeom>
          <a:ln w="15240">
            <a:solidFill>
              <a:srgbClr val="31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75520" y="3364992"/>
            <a:ext cx="457200" cy="0"/>
          </a:xfrm>
          <a:prstGeom prst="line">
            <a:avLst/>
          </a:prstGeom>
          <a:ln w="15240">
            <a:solidFill>
              <a:srgbClr val="31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4160520"/>
            <a:ext cx="5074920" cy="960120"/>
          </a:xfrm>
          <a:prstGeom prst="roundRect">
            <a:avLst/>
          </a:prstGeom>
          <a:solidFill>
            <a:srgbClr val="F4F8FD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300" b="1">
                <a:solidFill>
                  <a:srgbClr val="1F3758"/>
                </a:solidFill>
                <a:latin typeface="Aptos"/>
              </a:defRPr>
            </a:pPr>
            <a:r>
              <a:t>Management View</a:t>
            </a:r>
            <a:br/>
            <a:r>
              <a:t>Employee + Department + Activity 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349240"/>
            <a:ext cx="5074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000" b="1">
                <a:solidFill>
                  <a:srgbClr val="647487"/>
                </a:solidFill>
                <a:latin typeface="Aptos"/>
              </a:defRPr>
            </a:pPr>
            <a:r>
              <a:t>Audit tracking  •  Notifications  •  Operational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7"/>
                </a:solidFill>
                <a:latin typeface="Aptos"/>
              </a:defRPr>
            </a:pPr>
            <a:r>
              <a:t>Employee Management System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16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3758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167AE"/>
                </a:solidFill>
                <a:latin typeface="Aptos"/>
              </a:defRPr>
            </a:pPr>
            <a:r>
              <a:t>Employee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794760"/>
            <a:ext cx="6720840" cy="749808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CA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>
              <a:defRPr sz="1700" b="1">
                <a:solidFill>
                  <a:srgbClr val="1F3758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9204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7"/>
                </a:solidFill>
                <a:latin typeface="Aptos"/>
              </a:defRPr>
            </a:pPr>
            <a:r>
              <a:t>Angular 21  •  Java 17  •  Spring Boot 3.5.6  •  MySQL 8  •  REST API  •  Role-Based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7"/>
                </a:solidFill>
                <a:latin typeface="Aptos"/>
              </a:defRPr>
            </a:pPr>
            <a:r>
              <a:t>Employee Management System  •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429</Words>
  <Application>Microsoft Office PowerPoint</Application>
  <PresentationFormat>Widescreen</PresentationFormat>
  <Paragraphs>129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Management System — Demo</dc:title>
  <dc:subject>7-slide project demonstration presentation</dc:subject>
  <dc:creator>Employee Management System</dc:creator>
  <cp:keywords/>
  <dc:description>generated using python-pptx</dc:description>
  <cp:lastModifiedBy>SENSEI</cp:lastModifiedBy>
  <cp:revision>2</cp:revision>
  <dcterms:created xsi:type="dcterms:W3CDTF">2013-01-27T09:14:16Z</dcterms:created>
  <dcterms:modified xsi:type="dcterms:W3CDTF">2026-08-26T12:28:29Z</dcterms:modified>
  <cp:category/>
</cp:coreProperties>
</file>